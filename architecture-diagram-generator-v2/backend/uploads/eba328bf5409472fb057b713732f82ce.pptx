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99C7-C214-8F85-CDED-FC9D96E40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ABAB5-C430-C026-0B9E-EE6F9391F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8CC4C-DC47-0297-3452-4D3E1ADF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49A5-1862-6BF6-DA3A-CC6B084F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094E0-A09F-239E-8A5D-24BE5ADD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500D-E6CA-57D6-8584-FFC5E746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3833B-C862-BB87-C196-3B405482B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067E2-5275-2F15-66A7-7CF7E8A1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3422F-4935-98B8-A2BE-3FCF5947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AB5AC-6FB6-0905-909C-FE040A5C1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5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ACC4F-2ECE-16D1-509E-DFCD1BAF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A1A6B-7B9C-DAAC-286D-882F25D07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4F254-8BEB-EDD9-9022-B7D95C7B1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F86DD-D41D-73AC-8DD3-12015F9E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E41C6-331A-EFB2-D688-70CD75C06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43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16F7-2D23-AD89-FE4B-D3333BAA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A528-4248-AF57-8446-A1C77C4A2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DDF1B-6A75-449A-8902-68162E145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0E00B-2318-9206-A778-C4DE8B77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AE07C-AC16-CA93-E06D-7ED8C85E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A2C52-DC59-21F0-845C-638CA3A7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2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9A595-B25D-56AE-5D8C-216CAA2FE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4B0BE-EE5B-34B1-8CFF-106402746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F40CD0-2797-B3D9-F41B-56C502B53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EAC78-C0CF-2275-99E4-4EA2AB399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6C4A4-9258-C71F-C6E6-D95ECD3C3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589B8-190F-5405-E5E5-EF9598D9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BD0CC-71E2-B6EB-3408-2D86495DA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AFE3A-CFAC-D023-B4CD-AA839F49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8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C64F-A2FE-54A4-C286-08B66F75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6C49F-BF14-26C3-288D-CFEF5791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52A42-771C-36F3-3449-40D04598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AC5D7-78A5-1E1B-FF74-590EDF0B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2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21FB4-8191-DA63-A4C2-57945B248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35297-0EC0-A0E7-A205-5F830DF62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452AD-1D03-1D95-AD87-A416BDA8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0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A7BF-3F70-C65D-6065-9811841D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A5C0-B58B-0A2E-9B9C-544A24126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24FB6-069B-A38D-E819-DA5BC8A29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C2928-0195-4F8E-6B0C-CCCDAAB2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7C5D9-FA65-8DF2-A22F-258BE8BE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9F29C-4271-560C-78CA-BC403D86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10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4041-E995-5A87-65A9-1BD2AA4C7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752248-CDF3-D7C5-D1FE-733661A73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0B69F-2468-CC4A-7263-C657477D1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0EB57-AC0A-6585-8381-A519E7BE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D1685-9773-2C57-4BC7-223234BB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A0BFA-5E3C-6632-CCEC-9CF1530A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C07B1-18D0-2CC8-3C80-B1CAB171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D20ED-3195-0421-74C7-69FC881F0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22B9A-D6D3-4D8D-C4CB-75E51AA1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CAB8-BF26-8A3B-6388-24FFB72C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6944-ABCB-2077-E5C3-BAA90009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0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B4E859-7467-3013-393F-5E25F4C59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78203-F162-4BA6-9DBE-A2198E058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A8332-67A5-E6CE-5DB5-820A27B92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26B8-4D47-8691-63FF-11BAD7038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850D5-2DB5-0267-6489-B65F67B4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8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FC8BA3-0CB3-76E9-E067-6E9D878B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CB4A8-4645-5E64-A66B-033BB5DA5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931FA-BAB9-60B3-30B1-248943887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DD0B5-3CD8-4811-9789-EE6EC2ADFFC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98B6B-5D9B-7C1E-1688-1DA250065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75480-B436-B380-405C-7D25E2983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60247-2EBA-4603-A1FE-74CA58BB0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8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42272-7DD0-5FCD-F882-A1B265CDC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44637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Access Control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0552B-98CB-2E7E-F26A-E2ED02577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Phase 1: Architecture Modeling</a:t>
            </a:r>
          </a:p>
        </p:txBody>
      </p:sp>
    </p:spTree>
    <p:extLst>
      <p:ext uri="{BB962C8B-B14F-4D97-AF65-F5344CB8AC3E}">
        <p14:creationId xmlns:p14="http://schemas.microsoft.com/office/powerpoint/2010/main" val="399932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603E3-F798-0F95-25CF-EBDBF441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F9604-9289-C837-FE35-414A83DB8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FC586E-F0C9-A894-D3C1-93D74DA93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360217"/>
            <a:ext cx="11327549" cy="366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4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98D1C-B0B0-1CF2-552F-FF6ABFCB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 Architecture-Wind Farm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917FA-FE82-E70D-E566-EE5F9BC9B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392" y="1966293"/>
            <a:ext cx="784521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0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2549-F720-E82A-081C-A9C39562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1288"/>
          </a:xfrm>
        </p:spPr>
        <p:txBody>
          <a:bodyPr>
            <a:normAutofit fontScale="90000"/>
          </a:bodyPr>
          <a:lstStyle/>
          <a:p>
            <a:r>
              <a:rPr lang="en-US" dirty="0"/>
              <a:t>Structured Information Ext.-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A1A42-513A-A3AE-4920-1DC82354F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337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Systematic extraction of architectural data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topology – zones, conduits, network segmentation, and interconnections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protocols- operational roles, communication boundaries</a:t>
            </a:r>
          </a:p>
          <a:p>
            <a:pPr lvl="1" algn="just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Authorization-centric representation- Modeling authorization relationships as first class entities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Subjects- operational roles, services, and other accounts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Objects- devices, services, configuration and control interfaces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Actions- read, write, control and configure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Attributes-roles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aligns with RBAC</a:t>
            </a:r>
          </a:p>
          <a:p>
            <a:pPr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Authorization Attack Surface Graph (AASG)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 as subjects, roles and protected resources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Edges- policy permitted actions</a:t>
            </a:r>
          </a:p>
          <a:p>
            <a:pPr lvl="1" algn="just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constraints- RBAC predicates, cross-zone and protocol specific constraints</a:t>
            </a: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45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57B9D-9573-7598-38E4-13FBBA43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8111296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58281" y="-401562"/>
            <a:ext cx="6858004" cy="7661129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-1"/>
            <a:ext cx="8118331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2569700" y="983306"/>
            <a:ext cx="5005754" cy="5005754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B4772-B6AD-A9DA-5D2F-28AE2872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48" y="857251"/>
            <a:ext cx="6219582" cy="31601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Algorithm for Architecture Modeling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4354178"/>
            <a:ext cx="8118330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1A8730-4E50-F359-7090-8256EF696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622" y="457200"/>
            <a:ext cx="342866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02CF-34D6-7D17-0B46-FC5E86ABC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>
            <a:normAutofit/>
          </a:bodyPr>
          <a:lstStyle/>
          <a:p>
            <a:r>
              <a:rPr lang="en-US" sz="2000"/>
              <a:t>Architecture Modeling of Wind Farm Architecture- Security Zones and Trust Boundaries</a:t>
            </a: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420329-2350-A5FD-61B2-804083A7B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0828" y="1240972"/>
            <a:ext cx="7315200" cy="541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2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BAA27-24F8-4656-6771-252D5BF1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2BE1-E77B-1F5E-62E4-8A62C3299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4" y="-26760"/>
            <a:ext cx="10515600" cy="875846"/>
          </a:xfrm>
        </p:spPr>
        <p:txBody>
          <a:bodyPr>
            <a:normAutofit/>
          </a:bodyPr>
          <a:lstStyle/>
          <a:p>
            <a:r>
              <a:rPr lang="en-US" sz="2000" dirty="0"/>
              <a:t>Architecture Modeling of Wind Farm Architecture- Cross zone conduits-Communication Paths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607AAF-7BEE-A346-C93B-13DFF0F3E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73" y="849086"/>
            <a:ext cx="9908653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5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B403-F8E3-9FE0-CF91-19EB06F0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BDD1-8BE8-76F7-CF7D-A6108A42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4" y="-26760"/>
            <a:ext cx="10515600" cy="875846"/>
          </a:xfrm>
        </p:spPr>
        <p:txBody>
          <a:bodyPr>
            <a:normAutofit/>
          </a:bodyPr>
          <a:lstStyle/>
          <a:p>
            <a:r>
              <a:rPr lang="en-US" sz="2000" dirty="0"/>
              <a:t>Architecture and Authorization- Formal Definition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93E6C-BC62-6F19-7DB8-C43841E56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4" y="751115"/>
            <a:ext cx="9908653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7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69119-A946-4415-C910-D4E93F45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4500E-96D6-EB6D-69D4-FA2AFB71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and Authorization- Formal Definition With RBAC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A9538-BE6E-B7C7-A7C2-F5AF2755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952" y="457199"/>
            <a:ext cx="5056416" cy="589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99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1412-86FE-8566-A4DB-055462EC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AASG – Authorization Attack Surface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036E-0347-A436-1825-93F251F9F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71" y="115071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based representation of authorization-induced reachability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 represent roles and protected assets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represent policy permitted actions that are architecturally admissible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Captures how permissions translate into concrete, multi-hop reachability paths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Bridges policy and attacks- transforms RBAC authorization rules into a reachability model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threat identification-  Policy-permitted edges and paths in AASG are interpreted as policy-induced threats when they enable high-impact actions (HMI control or PLC logic modification)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Foundation for automation- Serves as input abstraction for planning-based attack generation, attack graph construction, and empirical evaluation.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Explains hidden risk- reveals transitive cross-zone attack paths that are inevitable in topology-only or permission-only models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what-if analysis: changes to authorization or conduits directly reshape the AASG, enabling quantitative evaluation of policy hardening</a:t>
            </a:r>
          </a:p>
          <a:p>
            <a:pPr>
              <a:buFontTx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attack graphs explain how system fail, ASSG explains how system can be attacked while working exactly as designed</a:t>
            </a:r>
          </a:p>
          <a:p>
            <a:pPr>
              <a:buFontTx/>
              <a:buChar char="-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119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A203-4012-013D-CDDB-A0D1D5D60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AASG for Ref.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51539-A6F6-5710-2E32-AE0997E24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5" y="1261647"/>
            <a:ext cx="9459687" cy="50360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1845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4FB67-91A0-592D-61EF-05C196944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BF44-ECA8-EC12-6316-F1CEEABE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Difference between RBAC and AASG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E5B50-8E1C-CEF1-0D81-97D12C6D4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81" y="1652012"/>
            <a:ext cx="10567437" cy="355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Dynamic Access Control Evaluation</vt:lpstr>
      <vt:lpstr>Proposed Methodology</vt:lpstr>
      <vt:lpstr>Reference Architecture-Wind Farm</vt:lpstr>
      <vt:lpstr>Structured Information Ext.- Concept</vt:lpstr>
      <vt:lpstr>Algorithm for Architecture Modeling</vt:lpstr>
      <vt:lpstr>Architecture Modeling of Wind Farm Architecture- Security Zones and Trust Boundaries</vt:lpstr>
      <vt:lpstr>Architecture Modeling of Wind Farm Architecture- Cross zone conduits-Communication Paths</vt:lpstr>
      <vt:lpstr>Architecture and Authorization- Formal Definition</vt:lpstr>
      <vt:lpstr>Architecture and Authorization- Formal Definition With RBAC</vt:lpstr>
      <vt:lpstr>AASG – Authorization Attack Surface Graph</vt:lpstr>
      <vt:lpstr>Example AASG for Ref. Architecture</vt:lpstr>
      <vt:lpstr>Difference between RBAC and AASG</vt:lpstr>
    </vt:vector>
  </TitlesOfParts>
  <Company>Siemens Energy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Gowdanakatte, Shwetha</dc:creator>
  <cp:lastModifiedBy>Gowdanakatte, Shwetha</cp:lastModifiedBy>
  <cp:revision>19</cp:revision>
  <dcterms:created xsi:type="dcterms:W3CDTF">2026-03-20T14:47:07Z</dcterms:created>
  <dcterms:modified xsi:type="dcterms:W3CDTF">2026-04-02T16:26:35Z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791f77-3d39-4d72-9277-ac879ec799ed_Enabled">
    <vt:lpwstr>true</vt:lpwstr>
  </property>
  <property fmtid="{D5CDD505-2E9C-101B-9397-08002B2CF9AE}" pid="3" name="MSIP_Label_36791f77-3d39-4d72-9277-ac879ec799ed_SetDate">
    <vt:lpwstr>2026-03-20T14:48:19Z</vt:lpwstr>
  </property>
  <property fmtid="{D5CDD505-2E9C-101B-9397-08002B2CF9AE}" pid="4" name="MSIP_Label_36791f77-3d39-4d72-9277-ac879ec799ed_Method">
    <vt:lpwstr>Standard</vt:lpwstr>
  </property>
  <property fmtid="{D5CDD505-2E9C-101B-9397-08002B2CF9AE}" pid="5" name="MSIP_Label_36791f77-3d39-4d72-9277-ac879ec799ed_Name">
    <vt:lpwstr>restricted-default</vt:lpwstr>
  </property>
  <property fmtid="{D5CDD505-2E9C-101B-9397-08002B2CF9AE}" pid="6" name="MSIP_Label_36791f77-3d39-4d72-9277-ac879ec799ed_SiteId">
    <vt:lpwstr>254ba93e-1f6f-48f3-90e6-e2766664b477</vt:lpwstr>
  </property>
  <property fmtid="{D5CDD505-2E9C-101B-9397-08002B2CF9AE}" pid="7" name="MSIP_Label_36791f77-3d39-4d72-9277-ac879ec799ed_ActionId">
    <vt:lpwstr>5e9e5d35-4c43-425a-bf90-aa7b96d0472b</vt:lpwstr>
  </property>
  <property fmtid="{D5CDD505-2E9C-101B-9397-08002B2CF9AE}" pid="8" name="MSIP_Label_36791f77-3d39-4d72-9277-ac879ec799ed_ContentBits">
    <vt:lpwstr>0</vt:lpwstr>
  </property>
  <property fmtid="{D5CDD505-2E9C-101B-9397-08002B2CF9AE}" pid="9" name="MSIP_Label_36791f77-3d39-4d72-9277-ac879ec799ed_Tag">
    <vt:lpwstr>10, 3, 0, 1</vt:lpwstr>
  </property>
</Properties>
</file>